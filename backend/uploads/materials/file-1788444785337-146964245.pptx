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Oswald Bold" charset="1" panose="00000800000000000000"/>
      <p:regular r:id="rId16"/>
    </p:embeddedFont>
    <p:embeddedFont>
      <p:font typeface="Montserrat Classic Bold" charset="1" panose="00000800000000000000"/>
      <p:regular r:id="rId17"/>
    </p:embeddedFont>
    <p:embeddedFont>
      <p:font typeface="Canva Sans Bold" charset="1" panose="020B0803030501040103"/>
      <p:regular r:id="rId18"/>
    </p:embeddedFont>
    <p:embeddedFont>
      <p:font typeface="Canva Sans" charset="1" panose="020B0503030501040103"/>
      <p:regular r:id="rId19"/>
    </p:embeddedFont>
    <p:embeddedFont>
      <p:font typeface="Lilita One" charset="1" panose="02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659121">
            <a:off x="15091031" y="5585714"/>
            <a:ext cx="7629294" cy="7828566"/>
          </a:xfrm>
          <a:custGeom>
            <a:avLst/>
            <a:gdLst/>
            <a:ahLst/>
            <a:cxnLst/>
            <a:rect r="r" b="b" t="t" l="l"/>
            <a:pathLst>
              <a:path h="7828566" w="7629294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258071" y="-4629150"/>
            <a:ext cx="9022634" cy="9258300"/>
          </a:xfrm>
          <a:custGeom>
            <a:avLst/>
            <a:gdLst/>
            <a:ahLst/>
            <a:cxnLst/>
            <a:rect r="r" b="b" t="t" l="l"/>
            <a:pathLst>
              <a:path h="9258300" w="9022634">
                <a:moveTo>
                  <a:pt x="0" y="0"/>
                </a:moveTo>
                <a:lnTo>
                  <a:pt x="9022634" y="0"/>
                </a:lnTo>
                <a:lnTo>
                  <a:pt x="902263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95985" y="2806296"/>
            <a:ext cx="13696031" cy="290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12"/>
              </a:lnSpc>
            </a:pPr>
            <a:r>
              <a:rPr lang="en-US" b="true" sz="12101" spc="1185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MANAGING IT RESOURCES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236347" y="1284810"/>
            <a:ext cx="9815307" cy="1186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48"/>
              </a:lnSpc>
            </a:pPr>
            <a:r>
              <a:rPr lang="en-US" b="true" sz="7063" spc="692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WELCOME 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01547" y="6928558"/>
            <a:ext cx="12848809" cy="2730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1"/>
              </a:lnSpc>
            </a:pPr>
            <a:r>
              <a:rPr lang="en-US" b="true" sz="2653" spc="140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GROUP: 9</a:t>
            </a:r>
          </a:p>
          <a:p>
            <a:pPr algn="ctr">
              <a:lnSpc>
                <a:spcPts val="3661"/>
              </a:lnSpc>
            </a:pPr>
            <a:r>
              <a:rPr lang="en-US" b="true" sz="2653" spc="140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FELIX, ERWIN P.</a:t>
            </a:r>
          </a:p>
          <a:p>
            <a:pPr algn="ctr">
              <a:lnSpc>
                <a:spcPts val="3661"/>
              </a:lnSpc>
            </a:pPr>
            <a:r>
              <a:rPr lang="en-US" b="true" sz="2653" spc="140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KIM, PHILLIP G.</a:t>
            </a:r>
          </a:p>
          <a:p>
            <a:pPr algn="ctr">
              <a:lnSpc>
                <a:spcPts val="3661"/>
              </a:lnSpc>
            </a:pPr>
            <a:r>
              <a:rPr lang="en-US" b="true" sz="2653" spc="140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LALATA, CHRISTINE D.</a:t>
            </a:r>
          </a:p>
          <a:p>
            <a:pPr algn="ctr">
              <a:lnSpc>
                <a:spcPts val="3661"/>
              </a:lnSpc>
            </a:pPr>
            <a:r>
              <a:rPr lang="en-US" b="true" sz="2653" spc="140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ORDONIA, ABRAHAM JACOB F.</a:t>
            </a:r>
          </a:p>
          <a:p>
            <a:pPr algn="ctr">
              <a:lnSpc>
                <a:spcPts val="3661"/>
              </a:lnSpc>
            </a:pPr>
            <a:r>
              <a:rPr lang="en-US" b="true" sz="2653" spc="140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SERRADA, JANVIE B.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23988" y="5614196"/>
            <a:ext cx="9240024" cy="111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76"/>
              </a:lnSpc>
            </a:pPr>
            <a:r>
              <a:rPr lang="en-US" b="true" sz="6649" spc="651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ITE367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407869">
            <a:off x="12052165" y="1118883"/>
            <a:ext cx="12471670" cy="5351480"/>
          </a:xfrm>
          <a:custGeom>
            <a:avLst/>
            <a:gdLst/>
            <a:ahLst/>
            <a:cxnLst/>
            <a:rect r="r" b="b" t="t" l="l"/>
            <a:pathLst>
              <a:path h="5351480" w="12471670">
                <a:moveTo>
                  <a:pt x="0" y="0"/>
                </a:moveTo>
                <a:lnTo>
                  <a:pt x="12471670" y="0"/>
                </a:lnTo>
                <a:lnTo>
                  <a:pt x="12471670" y="5351480"/>
                </a:lnTo>
                <a:lnTo>
                  <a:pt x="0" y="53514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407869">
            <a:off x="-4696947" y="10150458"/>
            <a:ext cx="12471670" cy="5351480"/>
          </a:xfrm>
          <a:custGeom>
            <a:avLst/>
            <a:gdLst/>
            <a:ahLst/>
            <a:cxnLst/>
            <a:rect r="r" b="b" t="t" l="l"/>
            <a:pathLst>
              <a:path h="5351480" w="12471670">
                <a:moveTo>
                  <a:pt x="0" y="0"/>
                </a:moveTo>
                <a:lnTo>
                  <a:pt x="12471670" y="0"/>
                </a:lnTo>
                <a:lnTo>
                  <a:pt x="12471670" y="5351480"/>
                </a:lnTo>
                <a:lnTo>
                  <a:pt x="0" y="53514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22934" y="2504122"/>
            <a:ext cx="16571382" cy="5421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05"/>
              </a:lnSpc>
            </a:pPr>
            <a:r>
              <a:rPr lang="en-US" b="true" sz="10100" spc="989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MODULE 7 - SESSION 2:</a:t>
            </a:r>
          </a:p>
          <a:p>
            <a:pPr algn="ctr">
              <a:lnSpc>
                <a:spcPts val="10605"/>
              </a:lnSpc>
            </a:pPr>
            <a:r>
              <a:rPr lang="en-US" b="true" sz="10100" spc="989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 INTRODUCTION TO IT SECURITY CONTROLS</a:t>
            </a:r>
          </a:p>
          <a:p>
            <a:pPr algn="ctr" marL="0" indent="0" lvl="0">
              <a:lnSpc>
                <a:spcPts val="10605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407869">
            <a:off x="12052165" y="1118883"/>
            <a:ext cx="12471670" cy="5351480"/>
          </a:xfrm>
          <a:custGeom>
            <a:avLst/>
            <a:gdLst/>
            <a:ahLst/>
            <a:cxnLst/>
            <a:rect r="r" b="b" t="t" l="l"/>
            <a:pathLst>
              <a:path h="5351480" w="12471670">
                <a:moveTo>
                  <a:pt x="0" y="0"/>
                </a:moveTo>
                <a:lnTo>
                  <a:pt x="12471670" y="0"/>
                </a:lnTo>
                <a:lnTo>
                  <a:pt x="12471670" y="5351480"/>
                </a:lnTo>
                <a:lnTo>
                  <a:pt x="0" y="53514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407869">
            <a:off x="-4696947" y="10150458"/>
            <a:ext cx="12471670" cy="5351480"/>
          </a:xfrm>
          <a:custGeom>
            <a:avLst/>
            <a:gdLst/>
            <a:ahLst/>
            <a:cxnLst/>
            <a:rect r="r" b="b" t="t" l="l"/>
            <a:pathLst>
              <a:path h="5351480" w="12471670">
                <a:moveTo>
                  <a:pt x="0" y="0"/>
                </a:moveTo>
                <a:lnTo>
                  <a:pt x="12471670" y="0"/>
                </a:lnTo>
                <a:lnTo>
                  <a:pt x="12471670" y="5351480"/>
                </a:lnTo>
                <a:lnTo>
                  <a:pt x="0" y="53514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51834" y="507537"/>
            <a:ext cx="14384332" cy="1126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7"/>
              </a:lnSpc>
            </a:pPr>
            <a:r>
              <a:rPr lang="en-US" b="true" sz="8159" spc="799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START OF THE LESSON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28212" y="2554865"/>
            <a:ext cx="13631576" cy="5785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85"/>
              </a:lnSpc>
              <a:spcBef>
                <a:spcPct val="0"/>
              </a:spcBef>
            </a:pPr>
            <a:r>
              <a:rPr lang="en-US" b="true" sz="548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Last session, we learned to classify security controls. Today, we move to the how: How do we actually implement, manage, and maintain effective security controls in real environments?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407869">
            <a:off x="12052165" y="1118883"/>
            <a:ext cx="12471670" cy="5351480"/>
          </a:xfrm>
          <a:custGeom>
            <a:avLst/>
            <a:gdLst/>
            <a:ahLst/>
            <a:cxnLst/>
            <a:rect r="r" b="b" t="t" l="l"/>
            <a:pathLst>
              <a:path h="5351480" w="12471670">
                <a:moveTo>
                  <a:pt x="0" y="0"/>
                </a:moveTo>
                <a:lnTo>
                  <a:pt x="12471670" y="0"/>
                </a:lnTo>
                <a:lnTo>
                  <a:pt x="12471670" y="5351480"/>
                </a:lnTo>
                <a:lnTo>
                  <a:pt x="0" y="53514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407869">
            <a:off x="-4696947" y="10150458"/>
            <a:ext cx="12471670" cy="5351480"/>
          </a:xfrm>
          <a:custGeom>
            <a:avLst/>
            <a:gdLst/>
            <a:ahLst/>
            <a:cxnLst/>
            <a:rect r="r" b="b" t="t" l="l"/>
            <a:pathLst>
              <a:path h="5351480" w="12471670">
                <a:moveTo>
                  <a:pt x="0" y="0"/>
                </a:moveTo>
                <a:lnTo>
                  <a:pt x="12471670" y="0"/>
                </a:lnTo>
                <a:lnTo>
                  <a:pt x="12471670" y="5351480"/>
                </a:lnTo>
                <a:lnTo>
                  <a:pt x="0" y="53514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51834" y="507537"/>
            <a:ext cx="14384332" cy="1126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7"/>
              </a:lnSpc>
            </a:pPr>
            <a:r>
              <a:rPr lang="en-US" b="true" sz="8159" spc="799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START OF THE LESSON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87825" y="2584583"/>
            <a:ext cx="14986447" cy="2598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3"/>
              </a:lnSpc>
              <a:spcBef>
                <a:spcPct val="0"/>
              </a:spcBef>
            </a:pPr>
            <a:r>
              <a:rPr lang="en-US" b="true" sz="493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this matters: knowing about controls isn’t enough--you need to know how to make them work in practice.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87825" y="5645829"/>
            <a:ext cx="13948341" cy="3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25"/>
              </a:lnSpc>
              <a:spcBef>
                <a:spcPct val="0"/>
              </a:spcBef>
            </a:pPr>
            <a:r>
              <a:rPr lang="en-US" b="true" sz="458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By the end of today, you’ll understand control implementation considerations and be able to design a basic security control plan for a given scenario.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407869">
            <a:off x="12052165" y="1118883"/>
            <a:ext cx="12471670" cy="5351480"/>
          </a:xfrm>
          <a:custGeom>
            <a:avLst/>
            <a:gdLst/>
            <a:ahLst/>
            <a:cxnLst/>
            <a:rect r="r" b="b" t="t" l="l"/>
            <a:pathLst>
              <a:path h="5351480" w="12471670">
                <a:moveTo>
                  <a:pt x="0" y="0"/>
                </a:moveTo>
                <a:lnTo>
                  <a:pt x="12471670" y="0"/>
                </a:lnTo>
                <a:lnTo>
                  <a:pt x="12471670" y="5351480"/>
                </a:lnTo>
                <a:lnTo>
                  <a:pt x="0" y="53514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407869">
            <a:off x="-4696947" y="10150458"/>
            <a:ext cx="12471670" cy="5351480"/>
          </a:xfrm>
          <a:custGeom>
            <a:avLst/>
            <a:gdLst/>
            <a:ahLst/>
            <a:cxnLst/>
            <a:rect r="r" b="b" t="t" l="l"/>
            <a:pathLst>
              <a:path h="5351480" w="12471670">
                <a:moveTo>
                  <a:pt x="0" y="0"/>
                </a:moveTo>
                <a:lnTo>
                  <a:pt x="12471670" y="0"/>
                </a:lnTo>
                <a:lnTo>
                  <a:pt x="12471670" y="5351480"/>
                </a:lnTo>
                <a:lnTo>
                  <a:pt x="0" y="53514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51834" y="507537"/>
            <a:ext cx="14384332" cy="1126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7"/>
              </a:lnSpc>
            </a:pPr>
            <a:r>
              <a:rPr lang="en-US" b="true" sz="8159" spc="799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START OF THE LESSON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51834" y="2431518"/>
            <a:ext cx="13302426" cy="81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6"/>
              </a:lnSpc>
            </a:pPr>
            <a:r>
              <a:rPr lang="en-US" sz="4747" b="true">
                <a:solidFill>
                  <a:srgbClr val="231F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Makes Security Controls Ineffective?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51834" y="3699373"/>
            <a:ext cx="12058715" cy="584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25056" indent="-512528" lvl="1">
              <a:lnSpc>
                <a:spcPts val="6646"/>
              </a:lnSpc>
              <a:buFont typeface="Arial"/>
              <a:buChar char="•"/>
            </a:pPr>
            <a:r>
              <a:rPr lang="en-US" sz="474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Too expensive to maintain</a:t>
            </a:r>
          </a:p>
          <a:p>
            <a:pPr algn="l" marL="1025056" indent="-512528" lvl="1">
              <a:lnSpc>
                <a:spcPts val="6646"/>
              </a:lnSpc>
              <a:buFont typeface="Arial"/>
              <a:buChar char="•"/>
            </a:pPr>
            <a:r>
              <a:rPr lang="en-US" sz="474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Too difficult for user to follow</a:t>
            </a:r>
          </a:p>
          <a:p>
            <a:pPr algn="l" marL="1025056" indent="-512528" lvl="1">
              <a:lnSpc>
                <a:spcPts val="6646"/>
              </a:lnSpc>
              <a:buFont typeface="Arial"/>
              <a:buChar char="•"/>
            </a:pPr>
            <a:r>
              <a:rPr lang="en-US" sz="474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Not monitored or reviewed regularly</a:t>
            </a:r>
          </a:p>
          <a:p>
            <a:pPr algn="l" marL="1025056" indent="-512528" lvl="1">
              <a:lnSpc>
                <a:spcPts val="6646"/>
              </a:lnSpc>
              <a:buFont typeface="Arial"/>
              <a:buChar char="•"/>
            </a:pPr>
            <a:r>
              <a:rPr lang="en-US" sz="474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Don’t work well together (not integrated)</a:t>
            </a:r>
          </a:p>
          <a:p>
            <a:pPr algn="l" marL="1025056" indent="-512528" lvl="1">
              <a:lnSpc>
                <a:spcPts val="6646"/>
              </a:lnSpc>
              <a:buFont typeface="Arial"/>
              <a:buChar char="•"/>
            </a:pPr>
            <a:r>
              <a:rPr lang="en-US" sz="474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Based on outdated threats</a:t>
            </a:r>
          </a:p>
          <a:p>
            <a:pPr algn="l">
              <a:lnSpc>
                <a:spcPts val="6646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407869">
            <a:off x="12052165" y="1118883"/>
            <a:ext cx="12471670" cy="5351480"/>
          </a:xfrm>
          <a:custGeom>
            <a:avLst/>
            <a:gdLst/>
            <a:ahLst/>
            <a:cxnLst/>
            <a:rect r="r" b="b" t="t" l="l"/>
            <a:pathLst>
              <a:path h="5351480" w="12471670">
                <a:moveTo>
                  <a:pt x="0" y="0"/>
                </a:moveTo>
                <a:lnTo>
                  <a:pt x="12471670" y="0"/>
                </a:lnTo>
                <a:lnTo>
                  <a:pt x="12471670" y="5351480"/>
                </a:lnTo>
                <a:lnTo>
                  <a:pt x="0" y="53514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407869">
            <a:off x="-4696947" y="10150458"/>
            <a:ext cx="12471670" cy="5351480"/>
          </a:xfrm>
          <a:custGeom>
            <a:avLst/>
            <a:gdLst/>
            <a:ahLst/>
            <a:cxnLst/>
            <a:rect r="r" b="b" t="t" l="l"/>
            <a:pathLst>
              <a:path h="5351480" w="12471670">
                <a:moveTo>
                  <a:pt x="0" y="0"/>
                </a:moveTo>
                <a:lnTo>
                  <a:pt x="12471670" y="0"/>
                </a:lnTo>
                <a:lnTo>
                  <a:pt x="12471670" y="5351480"/>
                </a:lnTo>
                <a:lnTo>
                  <a:pt x="0" y="53514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51834" y="507537"/>
            <a:ext cx="14384332" cy="1126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7"/>
              </a:lnSpc>
            </a:pPr>
            <a:r>
              <a:rPr lang="en-US" b="true" sz="8159" spc="799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MAIN TASK: LETS LEARN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51834" y="2215105"/>
            <a:ext cx="15922449" cy="910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38"/>
              </a:lnSpc>
              <a:spcBef>
                <a:spcPct val="0"/>
              </a:spcBef>
            </a:pPr>
            <a:r>
              <a:rPr lang="en-US" b="true" sz="6608" spc="647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IMPLEMENTING PRIVACY PROTECTIONS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870921" y="3544283"/>
            <a:ext cx="10546158" cy="6569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0"/>
              </a:lnSpc>
            </a:pPr>
            <a:r>
              <a:rPr lang="en-US" sz="363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Privacy  by Design - 7 Foundational Principles:</a:t>
            </a:r>
          </a:p>
          <a:p>
            <a:pPr algn="l">
              <a:lnSpc>
                <a:spcPts val="5090"/>
              </a:lnSpc>
            </a:pPr>
          </a:p>
          <a:p>
            <a:pPr algn="l" marL="720278" indent="-360139" lvl="1">
              <a:lnSpc>
                <a:spcPts val="4670"/>
              </a:lnSpc>
              <a:buAutoNum type="arabicPeriod" startAt="1"/>
            </a:pPr>
            <a:r>
              <a:rPr lang="en-US" sz="333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3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Proactive not Reactive</a:t>
            </a:r>
          </a:p>
          <a:p>
            <a:pPr algn="l" marL="720278" indent="-360139" lvl="1">
              <a:lnSpc>
                <a:spcPts val="4670"/>
              </a:lnSpc>
              <a:buAutoNum type="arabicPeriod" startAt="1"/>
            </a:pPr>
            <a:r>
              <a:rPr lang="en-US" sz="333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Privacy as Default</a:t>
            </a:r>
          </a:p>
          <a:p>
            <a:pPr algn="l" marL="720278" indent="-360139" lvl="1">
              <a:lnSpc>
                <a:spcPts val="4670"/>
              </a:lnSpc>
              <a:buAutoNum type="arabicPeriod" startAt="1"/>
            </a:pPr>
            <a:r>
              <a:rPr lang="en-US" sz="333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Privacy Embedded into Design</a:t>
            </a:r>
          </a:p>
          <a:p>
            <a:pPr algn="l" marL="720278" indent="-360139" lvl="1">
              <a:lnSpc>
                <a:spcPts val="4670"/>
              </a:lnSpc>
              <a:buAutoNum type="arabicPeriod" startAt="1"/>
            </a:pPr>
            <a:r>
              <a:rPr lang="en-US" sz="333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Full Functionality</a:t>
            </a:r>
          </a:p>
          <a:p>
            <a:pPr algn="l" marL="720278" indent="-360139" lvl="1">
              <a:lnSpc>
                <a:spcPts val="4670"/>
              </a:lnSpc>
              <a:buAutoNum type="arabicPeriod" startAt="1"/>
            </a:pPr>
            <a:r>
              <a:rPr lang="en-US" sz="333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End-to-End Security</a:t>
            </a:r>
          </a:p>
          <a:p>
            <a:pPr algn="l" marL="720278" indent="-360139" lvl="1">
              <a:lnSpc>
                <a:spcPts val="4670"/>
              </a:lnSpc>
              <a:buAutoNum type="arabicPeriod" startAt="1"/>
            </a:pPr>
            <a:r>
              <a:rPr lang="en-US" sz="333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Visibility &amp; Transparency</a:t>
            </a:r>
          </a:p>
          <a:p>
            <a:pPr algn="l" marL="720278" indent="-360139" lvl="1">
              <a:lnSpc>
                <a:spcPts val="4670"/>
              </a:lnSpc>
              <a:buAutoNum type="arabicPeriod" startAt="1"/>
            </a:pPr>
            <a:r>
              <a:rPr lang="en-US" sz="333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Respect for User Privacy</a:t>
            </a:r>
          </a:p>
          <a:p>
            <a:pPr algn="l">
              <a:lnSpc>
                <a:spcPts val="4670"/>
              </a:lnSpc>
            </a:pPr>
          </a:p>
          <a:p>
            <a:pPr algn="l">
              <a:lnSpc>
                <a:spcPts val="467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407869">
            <a:off x="12052165" y="1118883"/>
            <a:ext cx="12471670" cy="5351480"/>
          </a:xfrm>
          <a:custGeom>
            <a:avLst/>
            <a:gdLst/>
            <a:ahLst/>
            <a:cxnLst/>
            <a:rect r="r" b="b" t="t" l="l"/>
            <a:pathLst>
              <a:path h="5351480" w="12471670">
                <a:moveTo>
                  <a:pt x="0" y="0"/>
                </a:moveTo>
                <a:lnTo>
                  <a:pt x="12471670" y="0"/>
                </a:lnTo>
                <a:lnTo>
                  <a:pt x="12471670" y="5351480"/>
                </a:lnTo>
                <a:lnTo>
                  <a:pt x="0" y="53514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407869">
            <a:off x="-4696947" y="10150458"/>
            <a:ext cx="12471670" cy="5351480"/>
          </a:xfrm>
          <a:custGeom>
            <a:avLst/>
            <a:gdLst/>
            <a:ahLst/>
            <a:cxnLst/>
            <a:rect r="r" b="b" t="t" l="l"/>
            <a:pathLst>
              <a:path h="5351480" w="12471670">
                <a:moveTo>
                  <a:pt x="0" y="0"/>
                </a:moveTo>
                <a:lnTo>
                  <a:pt x="12471670" y="0"/>
                </a:lnTo>
                <a:lnTo>
                  <a:pt x="12471670" y="5351480"/>
                </a:lnTo>
                <a:lnTo>
                  <a:pt x="0" y="53514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51834" y="507537"/>
            <a:ext cx="14384332" cy="1126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7"/>
              </a:lnSpc>
            </a:pPr>
            <a:r>
              <a:rPr lang="en-US" b="true" sz="8159" spc="799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MAIN TASK: LETS LEARN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8835" y="2208230"/>
            <a:ext cx="17152055" cy="1126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7"/>
              </a:lnSpc>
              <a:spcBef>
                <a:spcPct val="0"/>
              </a:spcBef>
            </a:pPr>
            <a:r>
              <a:rPr lang="en-US" b="true" sz="8159" spc="799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KEY IMPLEMENTATION CONCEPTS: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39607" y="3897918"/>
            <a:ext cx="16408787" cy="4406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1227" indent="-340613" lvl="1">
              <a:lnSpc>
                <a:spcPts val="4417"/>
              </a:lnSpc>
              <a:buFont typeface="Arial"/>
              <a:buChar char="•"/>
            </a:pPr>
            <a:r>
              <a:rPr lang="en-US" b="true" sz="315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Minimization: Collect only what you need, keep only as long as needed</a:t>
            </a:r>
          </a:p>
          <a:p>
            <a:pPr algn="l" marL="681227" indent="-340613" lvl="1">
              <a:lnSpc>
                <a:spcPts val="4417"/>
              </a:lnSpc>
              <a:buFont typeface="Arial"/>
              <a:buChar char="•"/>
            </a:pPr>
            <a:r>
              <a:rPr lang="en-US" b="true" sz="315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Consent Management:</a:t>
            </a:r>
          </a:p>
          <a:p>
            <a:pPr algn="l">
              <a:lnSpc>
                <a:spcPts val="4417"/>
              </a:lnSpc>
            </a:pPr>
            <a:r>
              <a:rPr lang="en-US" sz="315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- Freely given, specific, informed, unambiguous</a:t>
            </a:r>
          </a:p>
          <a:p>
            <a:pPr algn="l">
              <a:lnSpc>
                <a:spcPts val="4417"/>
              </a:lnSpc>
            </a:pPr>
            <a:r>
              <a:rPr lang="en-US" sz="315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- Easy to withdraw as it is give</a:t>
            </a:r>
          </a:p>
          <a:p>
            <a:pPr algn="l" marL="681227" indent="-340613" lvl="1">
              <a:lnSpc>
                <a:spcPts val="4417"/>
              </a:lnSpc>
              <a:buFont typeface="Arial"/>
              <a:buChar char="•"/>
            </a:pPr>
            <a:r>
              <a:rPr lang="en-US" b="true" sz="315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User Rights (Under GDPR/DPA)</a:t>
            </a:r>
          </a:p>
          <a:p>
            <a:pPr algn="l">
              <a:lnSpc>
                <a:spcPts val="4417"/>
              </a:lnSpc>
            </a:pPr>
            <a:r>
              <a:rPr lang="en-US" sz="315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- Right to access, rectify, delete, restrict processing, data portability</a:t>
            </a:r>
          </a:p>
          <a:p>
            <a:pPr algn="l" marL="681227" indent="-340613" lvl="1">
              <a:lnSpc>
                <a:spcPts val="4417"/>
              </a:lnSpc>
              <a:buFont typeface="Arial"/>
              <a:buChar char="•"/>
            </a:pPr>
            <a:r>
              <a:rPr lang="en-US" b="true" sz="315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Data Breach Response:</a:t>
            </a:r>
          </a:p>
          <a:p>
            <a:pPr algn="l">
              <a:lnSpc>
                <a:spcPts val="4417"/>
              </a:lnSpc>
            </a:pPr>
            <a:r>
              <a:rPr lang="en-US" b="true" sz="315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- Detect, contain, assess, notify (authorities &amp; affected individuals), review                          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407869">
            <a:off x="12052165" y="1118883"/>
            <a:ext cx="12471670" cy="5351480"/>
          </a:xfrm>
          <a:custGeom>
            <a:avLst/>
            <a:gdLst/>
            <a:ahLst/>
            <a:cxnLst/>
            <a:rect r="r" b="b" t="t" l="l"/>
            <a:pathLst>
              <a:path h="5351480" w="12471670">
                <a:moveTo>
                  <a:pt x="0" y="0"/>
                </a:moveTo>
                <a:lnTo>
                  <a:pt x="12471670" y="0"/>
                </a:lnTo>
                <a:lnTo>
                  <a:pt x="12471670" y="5351480"/>
                </a:lnTo>
                <a:lnTo>
                  <a:pt x="0" y="53514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407869">
            <a:off x="-4696947" y="10150458"/>
            <a:ext cx="12471670" cy="5351480"/>
          </a:xfrm>
          <a:custGeom>
            <a:avLst/>
            <a:gdLst/>
            <a:ahLst/>
            <a:cxnLst/>
            <a:rect r="r" b="b" t="t" l="l"/>
            <a:pathLst>
              <a:path h="5351480" w="12471670">
                <a:moveTo>
                  <a:pt x="0" y="0"/>
                </a:moveTo>
                <a:lnTo>
                  <a:pt x="12471670" y="0"/>
                </a:lnTo>
                <a:lnTo>
                  <a:pt x="12471670" y="5351480"/>
                </a:lnTo>
                <a:lnTo>
                  <a:pt x="0" y="53514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51834" y="507537"/>
            <a:ext cx="14384332" cy="1126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7"/>
              </a:lnSpc>
            </a:pPr>
            <a:r>
              <a:rPr lang="en-US" b="true" sz="8159" spc="799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KEY IDEAS TO REMEMBER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51834" y="3208756"/>
            <a:ext cx="6519690" cy="293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2498" indent="-361249" lvl="1">
              <a:lnSpc>
                <a:spcPts val="4685"/>
              </a:lnSpc>
              <a:buFont typeface="Arial"/>
              <a:buChar char="•"/>
            </a:pPr>
            <a:r>
              <a:rPr lang="en-US" sz="334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Minimization</a:t>
            </a:r>
          </a:p>
          <a:p>
            <a:pPr algn="l">
              <a:lnSpc>
                <a:spcPts val="4685"/>
              </a:lnSpc>
            </a:pPr>
            <a:r>
              <a:rPr lang="en-US" sz="334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- Collect only what is needed and keep it only as long as needed.</a:t>
            </a:r>
          </a:p>
          <a:p>
            <a:pPr algn="l">
              <a:lnSpc>
                <a:spcPts val="4685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131482" y="3208756"/>
            <a:ext cx="6519690" cy="293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2498" indent="-361249" lvl="1">
              <a:lnSpc>
                <a:spcPts val="4685"/>
              </a:lnSpc>
              <a:buFont typeface="Arial"/>
              <a:buChar char="•"/>
            </a:pPr>
            <a:r>
              <a:rPr lang="en-US" sz="334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Consent</a:t>
            </a:r>
          </a:p>
          <a:p>
            <a:pPr algn="l">
              <a:lnSpc>
                <a:spcPts val="4685"/>
              </a:lnSpc>
            </a:pPr>
            <a:r>
              <a:rPr lang="en-US" sz="334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- Users should understand what they agree to and be able to withdraw.</a:t>
            </a:r>
          </a:p>
          <a:p>
            <a:pPr algn="l">
              <a:lnSpc>
                <a:spcPts val="4685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951834" y="6323875"/>
            <a:ext cx="6519690" cy="293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2498" indent="-361249" lvl="1">
              <a:lnSpc>
                <a:spcPts val="4685"/>
              </a:lnSpc>
              <a:buFont typeface="Arial"/>
              <a:buChar char="•"/>
            </a:pPr>
            <a:r>
              <a:rPr lang="en-US" sz="334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User Rights</a:t>
            </a:r>
          </a:p>
          <a:p>
            <a:pPr algn="l">
              <a:lnSpc>
                <a:spcPts val="4685"/>
              </a:lnSpc>
            </a:pPr>
            <a:r>
              <a:rPr lang="en-US" sz="334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- Users should be able to access, correct, or delete their data.</a:t>
            </a:r>
          </a:p>
          <a:p>
            <a:pPr algn="l">
              <a:lnSpc>
                <a:spcPts val="4685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131482" y="6323875"/>
            <a:ext cx="6519690" cy="352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2498" indent="-361249" lvl="1">
              <a:lnSpc>
                <a:spcPts val="4685"/>
              </a:lnSpc>
              <a:buFont typeface="Arial"/>
              <a:buChar char="•"/>
            </a:pPr>
            <a:r>
              <a:rPr lang="en-US" sz="334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Breach Response</a:t>
            </a:r>
          </a:p>
          <a:p>
            <a:pPr algn="l">
              <a:lnSpc>
                <a:spcPts val="4685"/>
              </a:lnSpc>
            </a:pPr>
            <a:r>
              <a:rPr lang="en-US" sz="334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- Detect the problem, contain it, notify affected people when required, and review</a:t>
            </a:r>
          </a:p>
          <a:p>
            <a:pPr algn="l">
              <a:lnSpc>
                <a:spcPts val="468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407869">
            <a:off x="12052165" y="1118883"/>
            <a:ext cx="12471670" cy="5351480"/>
          </a:xfrm>
          <a:custGeom>
            <a:avLst/>
            <a:gdLst/>
            <a:ahLst/>
            <a:cxnLst/>
            <a:rect r="r" b="b" t="t" l="l"/>
            <a:pathLst>
              <a:path h="5351480" w="12471670">
                <a:moveTo>
                  <a:pt x="0" y="0"/>
                </a:moveTo>
                <a:lnTo>
                  <a:pt x="12471670" y="0"/>
                </a:lnTo>
                <a:lnTo>
                  <a:pt x="12471670" y="5351480"/>
                </a:lnTo>
                <a:lnTo>
                  <a:pt x="0" y="53514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407869">
            <a:off x="-4696947" y="10150458"/>
            <a:ext cx="12471670" cy="5351480"/>
          </a:xfrm>
          <a:custGeom>
            <a:avLst/>
            <a:gdLst/>
            <a:ahLst/>
            <a:cxnLst/>
            <a:rect r="r" b="b" t="t" l="l"/>
            <a:pathLst>
              <a:path h="5351480" w="12471670">
                <a:moveTo>
                  <a:pt x="0" y="0"/>
                </a:moveTo>
                <a:lnTo>
                  <a:pt x="12471670" y="0"/>
                </a:lnTo>
                <a:lnTo>
                  <a:pt x="12471670" y="5351480"/>
                </a:lnTo>
                <a:lnTo>
                  <a:pt x="0" y="53514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51834" y="1143000"/>
            <a:ext cx="14384332" cy="1126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7"/>
              </a:lnSpc>
            </a:pPr>
            <a:r>
              <a:rPr lang="en-US" b="true" sz="8159" spc="799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SIMPLE TAKEAWAY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51834" y="3189706"/>
            <a:ext cx="14384332" cy="4260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51710" indent="-525855" lvl="1">
              <a:lnSpc>
                <a:spcPts val="6819"/>
              </a:lnSpc>
              <a:buFont typeface="Arial"/>
              <a:buChar char="•"/>
            </a:pPr>
            <a:r>
              <a:rPr lang="en-US" sz="487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Privacy should be part of the system design.</a:t>
            </a:r>
          </a:p>
          <a:p>
            <a:pPr algn="l" marL="1051710" indent="-525855" lvl="1">
              <a:lnSpc>
                <a:spcPts val="6819"/>
              </a:lnSpc>
              <a:buFont typeface="Arial"/>
              <a:buChar char="•"/>
            </a:pPr>
            <a:r>
              <a:rPr lang="en-US" sz="487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Collect only the data you need.</a:t>
            </a:r>
          </a:p>
          <a:p>
            <a:pPr algn="l" marL="1051710" indent="-525855" lvl="1">
              <a:lnSpc>
                <a:spcPts val="6819"/>
              </a:lnSpc>
              <a:buFont typeface="Arial"/>
              <a:buChar char="•"/>
            </a:pPr>
            <a:r>
              <a:rPr lang="en-US" sz="487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Keep data secure.</a:t>
            </a:r>
          </a:p>
          <a:p>
            <a:pPr algn="l" marL="1051710" indent="-525855" lvl="1">
              <a:lnSpc>
                <a:spcPts val="6819"/>
              </a:lnSpc>
              <a:buFont typeface="Arial"/>
              <a:buChar char="•"/>
            </a:pPr>
            <a:r>
              <a:rPr lang="en-US" sz="487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Give users control over their information.</a:t>
            </a:r>
          </a:p>
          <a:p>
            <a:pPr algn="l">
              <a:lnSpc>
                <a:spcPts val="68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407869">
            <a:off x="12052165" y="1118883"/>
            <a:ext cx="12471670" cy="5351480"/>
          </a:xfrm>
          <a:custGeom>
            <a:avLst/>
            <a:gdLst/>
            <a:ahLst/>
            <a:cxnLst/>
            <a:rect r="r" b="b" t="t" l="l"/>
            <a:pathLst>
              <a:path h="5351480" w="12471670">
                <a:moveTo>
                  <a:pt x="0" y="0"/>
                </a:moveTo>
                <a:lnTo>
                  <a:pt x="12471670" y="0"/>
                </a:lnTo>
                <a:lnTo>
                  <a:pt x="12471670" y="5351480"/>
                </a:lnTo>
                <a:lnTo>
                  <a:pt x="0" y="53514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407869">
            <a:off x="-4696947" y="10150458"/>
            <a:ext cx="12471670" cy="5351480"/>
          </a:xfrm>
          <a:custGeom>
            <a:avLst/>
            <a:gdLst/>
            <a:ahLst/>
            <a:cxnLst/>
            <a:rect r="r" b="b" t="t" l="l"/>
            <a:pathLst>
              <a:path h="5351480" w="12471670">
                <a:moveTo>
                  <a:pt x="0" y="0"/>
                </a:moveTo>
                <a:lnTo>
                  <a:pt x="12471670" y="0"/>
                </a:lnTo>
                <a:lnTo>
                  <a:pt x="12471670" y="5351480"/>
                </a:lnTo>
                <a:lnTo>
                  <a:pt x="0" y="53514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96876" y="2688131"/>
            <a:ext cx="16794930" cy="6910100"/>
            <a:chOff x="0" y="0"/>
            <a:chExt cx="4423356" cy="18199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23356" cy="1819944"/>
            </a:xfrm>
            <a:custGeom>
              <a:avLst/>
              <a:gdLst/>
              <a:ahLst/>
              <a:cxnLst/>
              <a:rect r="r" b="b" t="t" l="l"/>
              <a:pathLst>
                <a:path h="1819944" w="4423356">
                  <a:moveTo>
                    <a:pt x="0" y="0"/>
                  </a:moveTo>
                  <a:lnTo>
                    <a:pt x="4423356" y="0"/>
                  </a:lnTo>
                  <a:lnTo>
                    <a:pt x="4423356" y="1819944"/>
                  </a:lnTo>
                  <a:lnTo>
                    <a:pt x="0" y="1819944"/>
                  </a:ln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4423356" cy="18961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1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057566" y="1805581"/>
            <a:ext cx="10172868" cy="1765100"/>
            <a:chOff x="0" y="0"/>
            <a:chExt cx="2679274" cy="46488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79274" cy="464882"/>
            </a:xfrm>
            <a:custGeom>
              <a:avLst/>
              <a:gdLst/>
              <a:ahLst/>
              <a:cxnLst/>
              <a:rect r="r" b="b" t="t" l="l"/>
              <a:pathLst>
                <a:path h="464882" w="2679274">
                  <a:moveTo>
                    <a:pt x="45662" y="0"/>
                  </a:moveTo>
                  <a:lnTo>
                    <a:pt x="2633612" y="0"/>
                  </a:lnTo>
                  <a:cubicBezTo>
                    <a:pt x="2658830" y="0"/>
                    <a:pt x="2679274" y="20444"/>
                    <a:pt x="2679274" y="45662"/>
                  </a:cubicBezTo>
                  <a:lnTo>
                    <a:pt x="2679274" y="419220"/>
                  </a:lnTo>
                  <a:cubicBezTo>
                    <a:pt x="2679274" y="444439"/>
                    <a:pt x="2658830" y="464882"/>
                    <a:pt x="2633612" y="464882"/>
                  </a:cubicBezTo>
                  <a:lnTo>
                    <a:pt x="45662" y="464882"/>
                  </a:lnTo>
                  <a:cubicBezTo>
                    <a:pt x="33552" y="464882"/>
                    <a:pt x="21937" y="460072"/>
                    <a:pt x="13374" y="451508"/>
                  </a:cubicBezTo>
                  <a:cubicBezTo>
                    <a:pt x="4811" y="442945"/>
                    <a:pt x="0" y="431331"/>
                    <a:pt x="0" y="419220"/>
                  </a:cubicBezTo>
                  <a:lnTo>
                    <a:pt x="0" y="45662"/>
                  </a:lnTo>
                  <a:cubicBezTo>
                    <a:pt x="0" y="33552"/>
                    <a:pt x="4811" y="21937"/>
                    <a:pt x="13374" y="13374"/>
                  </a:cubicBezTo>
                  <a:cubicBezTo>
                    <a:pt x="21937" y="4811"/>
                    <a:pt x="33552" y="0"/>
                    <a:pt x="45662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71450"/>
              <a:ext cx="2679274" cy="6363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19"/>
                </a:lnSpc>
                <a:spcBef>
                  <a:spcPct val="0"/>
                </a:spcBef>
              </a:pPr>
              <a:r>
                <a:rPr lang="en-US" sz="8799">
                  <a:solidFill>
                    <a:srgbClr val="000000"/>
                  </a:solidFill>
                  <a:latin typeface="Lilita One"/>
                  <a:ea typeface="Lilita One"/>
                  <a:cs typeface="Lilita One"/>
                  <a:sym typeface="Lilita One"/>
                </a:rPr>
                <a:t>Q&amp;A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951834" y="507537"/>
            <a:ext cx="14384332" cy="1126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7"/>
              </a:lnSpc>
            </a:pPr>
            <a:r>
              <a:rPr lang="en-US" b="true" sz="8159" spc="799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MAIN TASK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610174" y="5440992"/>
            <a:ext cx="11067652" cy="1261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01"/>
              </a:lnSpc>
            </a:pPr>
            <a:r>
              <a:rPr lang="en-US" sz="7357" b="true">
                <a:solidFill>
                  <a:srgbClr val="231F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DAHRjk6GJbs</dc:identifier>
  <dcterms:modified xsi:type="dcterms:W3CDTF">2011-08-01T06:04:30Z</dcterms:modified>
  <cp:revision>1</cp:revision>
  <dc:title>Group 9</dc:title>
</cp:coreProperties>
</file>